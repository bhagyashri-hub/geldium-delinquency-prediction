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Slab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>
        <p:scale>
          <a:sx n="100" d="100"/>
          <a:sy n="100" d="100"/>
        </p:scale>
        <p:origin x="874" y="-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91441"/>
            <a:ext cx="8368200" cy="54864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the System Works</a:t>
            </a:r>
            <a:endParaRPr dirty="0"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0" y="548640"/>
            <a:ext cx="9308592" cy="49011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1600" b="1" dirty="0"/>
              <a:t>1. Inputs</a:t>
            </a:r>
          </a:p>
          <a:p>
            <a:r>
              <a:rPr lang="en-US" sz="1600" dirty="0"/>
              <a:t>Income, credit score, loan balance</a:t>
            </a:r>
          </a:p>
          <a:p>
            <a:r>
              <a:rPr lang="en-US" sz="1600" dirty="0"/>
              <a:t>Payment history (Month_1–6), missed payments</a:t>
            </a:r>
          </a:p>
          <a:p>
            <a:r>
              <a:rPr lang="en-US" sz="1600" dirty="0"/>
              <a:t>Credit utilization &amp; DTI ratio and Account tenure, card type</a:t>
            </a:r>
          </a:p>
          <a:p>
            <a:pPr marL="114300" indent="0">
              <a:buNone/>
            </a:pPr>
            <a:r>
              <a:rPr lang="en-US" sz="1600" b="1" dirty="0"/>
              <a:t>2. Decision Logic</a:t>
            </a:r>
          </a:p>
          <a:p>
            <a:r>
              <a:rPr lang="en-US" sz="1600" dirty="0"/>
              <a:t>AI model assigns delinquency risk score</a:t>
            </a:r>
          </a:p>
          <a:p>
            <a:r>
              <a:rPr lang="en-US" sz="1600" dirty="0"/>
              <a:t>Business rules define action thresholds</a:t>
            </a:r>
          </a:p>
          <a:p>
            <a:r>
              <a:rPr lang="en-US" sz="1600" dirty="0"/>
              <a:t>Hybrid approach: model prediction + compliance checks</a:t>
            </a:r>
          </a:p>
          <a:p>
            <a:pPr marL="114300" indent="0">
              <a:buNone/>
            </a:pPr>
            <a:r>
              <a:rPr lang="en-US" sz="1600" b="1" dirty="0"/>
              <a:t>3. Actions</a:t>
            </a:r>
          </a:p>
          <a:p>
            <a:r>
              <a:rPr lang="en-US" sz="1600" dirty="0"/>
              <a:t>Automated reminders (SMS/email)</a:t>
            </a:r>
          </a:p>
          <a:p>
            <a:r>
              <a:rPr lang="en-US" sz="1600" dirty="0"/>
              <a:t>Personalized repayment plans</a:t>
            </a:r>
          </a:p>
          <a:p>
            <a:r>
              <a:rPr lang="en-US" sz="1600" dirty="0"/>
              <a:t>Hardship support offers and Escalation to human agent for complex cases</a:t>
            </a:r>
          </a:p>
          <a:p>
            <a:pPr marL="114300" indent="0">
              <a:buNone/>
            </a:pPr>
            <a:r>
              <a:rPr lang="en-US" sz="1600" b="1" dirty="0"/>
              <a:t>4. Learning Loop</a:t>
            </a:r>
          </a:p>
          <a:p>
            <a:r>
              <a:rPr lang="en-US" sz="1600" dirty="0"/>
              <a:t>Tracks customer responses and AI model retrains with new data</a:t>
            </a:r>
          </a:p>
          <a:p>
            <a:r>
              <a:rPr lang="en-US" sz="1600" dirty="0"/>
              <a:t>Risk rules updated based on outcomes</a:t>
            </a:r>
          </a:p>
          <a:p>
            <a:r>
              <a:rPr lang="en-US" sz="1600" dirty="0"/>
              <a:t>Human review refines the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114300" indent="0">
              <a:buNone/>
            </a:pPr>
            <a:r>
              <a:rPr lang="en-US" sz="2100" b="1" dirty="0"/>
              <a:t>Autonomous (Fully AI-Driven)</a:t>
            </a:r>
          </a:p>
          <a:p>
            <a:r>
              <a:rPr lang="en-US" dirty="0"/>
              <a:t>Sends automated reminder emails/SMS based on risk score</a:t>
            </a:r>
          </a:p>
          <a:p>
            <a:r>
              <a:rPr lang="en-US" dirty="0"/>
              <a:t>Assigns customers to risk categories (low, medium, high)</a:t>
            </a:r>
          </a:p>
          <a:p>
            <a:r>
              <a:rPr lang="en-US" dirty="0"/>
              <a:t>Schedules follow-up reminders based on repayment behavior</a:t>
            </a:r>
          </a:p>
          <a:p>
            <a:r>
              <a:rPr lang="en-US" dirty="0"/>
              <a:t>Generates personalized messaging templates</a:t>
            </a:r>
          </a:p>
          <a:p>
            <a:r>
              <a:rPr lang="en-US" dirty="0"/>
              <a:t>Detects early warning signals (e.g., rising credit utilization)</a:t>
            </a:r>
          </a:p>
          <a:p>
            <a:pPr marL="114300" indent="0">
              <a:buNone/>
            </a:pPr>
            <a:br>
              <a:rPr lang="en-US" dirty="0"/>
            </a:br>
            <a:endParaRPr lang="en-US" dirty="0"/>
          </a:p>
          <a:p>
            <a:pPr marL="114300" indent="0">
              <a:buNone/>
            </a:pPr>
            <a:r>
              <a:rPr lang="en-US" sz="2300" b="1" dirty="0"/>
              <a:t>Human Oversight (Human-in-the-Loop)</a:t>
            </a:r>
          </a:p>
          <a:p>
            <a:r>
              <a:rPr lang="en-US" dirty="0"/>
              <a:t>Reviews and approves hardship or repayment restructuring plans</a:t>
            </a:r>
          </a:p>
          <a:p>
            <a:r>
              <a:rPr lang="en-US" dirty="0"/>
              <a:t>Handles disputes, complaints, or sensitive customer cases</a:t>
            </a:r>
          </a:p>
          <a:p>
            <a:r>
              <a:rPr lang="en-US" dirty="0"/>
              <a:t>Monitors model outputs for fairness, accuracy, and compliance</a:t>
            </a:r>
          </a:p>
          <a:p>
            <a:r>
              <a:rPr lang="en-US" dirty="0"/>
              <a:t>Makes final decisions on escalations or account interventions</a:t>
            </a:r>
          </a:p>
          <a:p>
            <a:r>
              <a:rPr lang="en-US" dirty="0"/>
              <a:t>Oversees model retraining and updates to business rules</a:t>
            </a:r>
          </a:p>
          <a:p>
            <a:pPr marL="114300" indent="0">
              <a:buNone/>
            </a:pPr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1"/>
            <a:ext cx="8368200" cy="5747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Responsible AI Guardrails</a:t>
            </a:r>
            <a:endParaRPr dirty="0"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574777"/>
            <a:ext cx="8582364" cy="48750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1600" b="1" dirty="0"/>
              <a:t>Fairness &amp; Bias Prevention</a:t>
            </a:r>
          </a:p>
          <a:p>
            <a:r>
              <a:rPr lang="en-US" sz="1600" dirty="0"/>
              <a:t>Regular bias checks across income groups, age, and locations</a:t>
            </a:r>
          </a:p>
          <a:p>
            <a:r>
              <a:rPr lang="en-US" sz="1600" dirty="0"/>
              <a:t>Monitor false-positive/false-negative rates for each customer segment</a:t>
            </a:r>
          </a:p>
          <a:p>
            <a:r>
              <a:rPr lang="en-US" sz="1600" dirty="0"/>
              <a:t>Use balanced training data to avoid disadvantaging vulnerable groups</a:t>
            </a:r>
          </a:p>
          <a:p>
            <a:pPr marL="114300" indent="0">
              <a:buNone/>
            </a:pPr>
            <a:r>
              <a:rPr lang="en-US" sz="1600" b="1" dirty="0"/>
              <a:t>Explainability &amp; Transparency</a:t>
            </a:r>
          </a:p>
          <a:p>
            <a:r>
              <a:rPr lang="en-US" sz="1600" dirty="0"/>
              <a:t>Provide clear reasons for decision (e.g., “High credit utilization + 2 missed payments”)</a:t>
            </a:r>
          </a:p>
          <a:p>
            <a:r>
              <a:rPr lang="en-US" sz="1600" dirty="0"/>
              <a:t>Use interpretable models or add explainable AI layers (e.g., SHAP, LIME)</a:t>
            </a:r>
          </a:p>
          <a:p>
            <a:r>
              <a:rPr lang="en-US" sz="1600" dirty="0"/>
              <a:t>Offer customer-facing explanations in simple language</a:t>
            </a:r>
          </a:p>
          <a:p>
            <a:pPr marL="114300" indent="0">
              <a:buNone/>
            </a:pPr>
            <a:r>
              <a:rPr lang="en-US" sz="1600" b="1" dirty="0"/>
              <a:t>Regulatory Compliance</a:t>
            </a:r>
          </a:p>
          <a:p>
            <a:r>
              <a:rPr lang="en-US" sz="1600" dirty="0"/>
              <a:t>Ensure alignment with </a:t>
            </a:r>
            <a:r>
              <a:rPr lang="en-US" sz="1600" b="1" dirty="0"/>
              <a:t>GDPR</a:t>
            </a:r>
            <a:r>
              <a:rPr lang="en-US" sz="1600" dirty="0"/>
              <a:t>, </a:t>
            </a:r>
            <a:r>
              <a:rPr lang="en-US" sz="1600" b="1" dirty="0"/>
              <a:t>ECOA</a:t>
            </a:r>
            <a:r>
              <a:rPr lang="en-US" sz="1600" dirty="0"/>
              <a:t>, RBI guidelines, and local financial regulations</a:t>
            </a:r>
          </a:p>
          <a:p>
            <a:r>
              <a:rPr lang="en-US" sz="1600" dirty="0"/>
              <a:t>Maintain audit trails for all automated decisions</a:t>
            </a:r>
          </a:p>
          <a:p>
            <a:r>
              <a:rPr lang="en-US" sz="1600" dirty="0"/>
              <a:t>Follow strict data privacy, storage, and consent protocols</a:t>
            </a:r>
          </a:p>
          <a:p>
            <a:pPr marL="114300" indent="0">
              <a:buNone/>
            </a:pPr>
            <a:r>
              <a:rPr lang="en-US" sz="1600" b="1" dirty="0"/>
              <a:t>Human-in-the-Loop Oversight</a:t>
            </a:r>
          </a:p>
          <a:p>
            <a:r>
              <a:rPr lang="en-US" sz="1600" dirty="0"/>
              <a:t>Humans review high-impact decisions (hardship offers, account closures)</a:t>
            </a:r>
          </a:p>
          <a:p>
            <a:r>
              <a:rPr lang="en-US" sz="1600" dirty="0"/>
              <a:t>Escalate complex, sensitive, or disputed cases to collections officers</a:t>
            </a:r>
          </a:p>
          <a:p>
            <a:r>
              <a:rPr lang="en-US" sz="1600" dirty="0"/>
              <a:t>Continuous monitoring of AI outputs for errors or drifts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r>
              <a:rPr lang="en-US" sz="1600" b="1" dirty="0"/>
              <a:t>Quantitative Benefits</a:t>
            </a:r>
          </a:p>
          <a:p>
            <a:r>
              <a:rPr lang="en-US" sz="1600" dirty="0"/>
              <a:t>Lower delinquency rates through early automated outreach</a:t>
            </a:r>
          </a:p>
          <a:p>
            <a:r>
              <a:rPr lang="en-US" sz="1600" dirty="0"/>
              <a:t>Higher repayment rates with personalized reminders</a:t>
            </a:r>
          </a:p>
          <a:p>
            <a:r>
              <a:rPr lang="en-US" sz="1600" dirty="0"/>
              <a:t>Reduced operational costs due to automation</a:t>
            </a:r>
          </a:p>
          <a:p>
            <a:r>
              <a:rPr lang="en-US" sz="1600" dirty="0"/>
              <a:t>Scalable system that handles large customer volumes</a:t>
            </a:r>
          </a:p>
          <a:p>
            <a:pPr marL="114300" indent="0">
              <a:buNone/>
            </a:pPr>
            <a:r>
              <a:rPr lang="en-US" sz="1600" b="1" dirty="0"/>
              <a:t>Qualitative Benefits</a:t>
            </a:r>
          </a:p>
          <a:p>
            <a:r>
              <a:rPr lang="en-US" sz="1600" dirty="0"/>
              <a:t>Improved customer trust with transparent, fair decisions</a:t>
            </a:r>
          </a:p>
          <a:p>
            <a:r>
              <a:rPr lang="en-US" sz="1600" dirty="0"/>
              <a:t>Better customer experience via supportive, tailored options</a:t>
            </a:r>
          </a:p>
          <a:p>
            <a:r>
              <a:rPr lang="en-US" sz="1600" dirty="0"/>
              <a:t>Stronger compliance &amp; brand reputation</a:t>
            </a:r>
          </a:p>
          <a:p>
            <a:r>
              <a:rPr lang="en-US" sz="1600" dirty="0"/>
              <a:t>More effective risk management across segments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1373-ECCB-8893-C88B-952E4955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System Architecture Overview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9607-54F3-CE30-20BB-21D4536BE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7900" y="1489824"/>
            <a:ext cx="8368200" cy="2746896"/>
          </a:xfrm>
        </p:spPr>
        <p:txBody>
          <a:bodyPr/>
          <a:lstStyle/>
          <a:p>
            <a:r>
              <a:rPr lang="en-US" b="1" dirty="0"/>
              <a:t>Data Inputs:</a:t>
            </a:r>
            <a:r>
              <a:rPr lang="en-US" dirty="0"/>
              <a:t> Customer profile, payment history, credit utilization, income, missed payments</a:t>
            </a:r>
          </a:p>
          <a:p>
            <a:r>
              <a:rPr lang="en-US" b="1" dirty="0"/>
              <a:t>AI Decision Engine:</a:t>
            </a:r>
            <a:r>
              <a:rPr lang="en-US" dirty="0"/>
              <a:t> Risk scoring model + business rules to assign low/medium/high risk</a:t>
            </a:r>
          </a:p>
          <a:p>
            <a:r>
              <a:rPr lang="en-US" b="1" dirty="0"/>
              <a:t>Actions:</a:t>
            </a:r>
            <a:r>
              <a:rPr lang="en-US" dirty="0"/>
              <a:t> Auto reminders, targeted offers, escalate complex cases to human agents</a:t>
            </a:r>
          </a:p>
          <a:p>
            <a:r>
              <a:rPr lang="en-US" b="1" dirty="0"/>
              <a:t>Learning Loop:</a:t>
            </a:r>
            <a:r>
              <a:rPr lang="en-US" dirty="0"/>
              <a:t> Tracks responses, updates risk scores, improves over 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721</Words>
  <Application>Microsoft Office PowerPoint</Application>
  <PresentationFormat>On-screen Show (16:9)</PresentationFormat>
  <Paragraphs>80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Roboto Slab</vt:lpstr>
      <vt:lpstr>Roboto</vt:lpstr>
      <vt:lpstr>Arial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  <vt:lpstr>System Architecture Overview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Bhagyashree Sonawane</dc:creator>
  <cp:lastModifiedBy>New User</cp:lastModifiedBy>
  <cp:revision>3</cp:revision>
  <dcterms:modified xsi:type="dcterms:W3CDTF">2025-11-24T12:26:21Z</dcterms:modified>
</cp:coreProperties>
</file>